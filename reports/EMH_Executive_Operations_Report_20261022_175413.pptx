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Ticket 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In Progress</c:v>
                </c:pt>
                <c:pt idx="1">
                  <c:v>In Development</c:v>
                </c:pt>
                <c:pt idx="2">
                  <c:v>Ready for UAT</c:v>
                </c:pt>
                <c:pt idx="3">
                  <c:v>Open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DCD58"/>
                </a:solidFill>
                <a:latin typeface="Segoe UI"/>
              </a:defRPr>
            </a:pPr>
            <a:r>
              <a:t>ENTERPRISE INTEGRATION &amp; MIDDLEWARE PLATFORM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EMH Operations &amp; Executive Performance Report</a:t>
            </a:r>
          </a:p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Comprehensive Operational Review across Jira, ServiceNow, Outlook Escalations &amp; Security | Past 7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06240"/>
            <a:ext cx="23774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EI Services L2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ASSIGNMENT GROUP</a:t>
            </a:r>
          </a:p>
          <a:p>
            <a:pPr algn="ctr">
              <a:defRPr sz="850">
                <a:solidFill>
                  <a:srgbClr val="38BDF8"/>
                </a:solidFill>
                <a:latin typeface="Segoe UI"/>
              </a:defRPr>
            </a:pPr>
            <a:r>
              <a:t>Primary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4206240"/>
            <a:ext cx="23774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DCD58"/>
                </a:solidFill>
                <a:latin typeface="Segoe UI"/>
              </a:defRPr>
            </a:pPr>
            <a:r>
              <a:t>Last 7 Days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TIME WINDOW</a:t>
            </a:r>
          </a:p>
          <a:p>
            <a:pPr algn="ctr">
              <a:defRPr sz="850">
                <a:solidFill>
                  <a:srgbClr val="3DCD58"/>
                </a:solidFill>
                <a:latin typeface="Segoe UI"/>
              </a:defRPr>
            </a:pPr>
            <a:r>
              <a:t>Dynamic Filter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206240"/>
            <a:ext cx="23774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4 Systems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DATA SOURCES</a:t>
            </a:r>
          </a:p>
          <a:p>
            <a:pPr algn="ctr">
              <a:defRPr sz="850">
                <a:solidFill>
                  <a:srgbClr val="FFFFFF"/>
                </a:solidFill>
                <a:latin typeface="Segoe UI"/>
              </a:defRPr>
            </a:pPr>
            <a:r>
              <a:t>Jira, SNOW, Mail, Xray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4206240"/>
            <a:ext cx="23774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AB308"/>
                </a:solidFill>
                <a:latin typeface="Segoe UI"/>
              </a:defRPr>
            </a:pPr>
            <a:r>
              <a:t>Monitored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SECURITY STATUS</a:t>
            </a:r>
          </a:p>
          <a:p>
            <a:pPr algn="ctr">
              <a:defRPr sz="850">
                <a:solidFill>
                  <a:srgbClr val="EAB308"/>
                </a:solidFill>
                <a:latin typeface="Segoe UI"/>
              </a:defRPr>
            </a:pPr>
            <a:r>
              <a:t>JFrog Xray Scans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Schneider Electric Confidential | EMH Operations Executive Intelligence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DCD58"/>
                </a:solidFill>
                <a:latin typeface="Segoe UI"/>
              </a:defRPr>
            </a:pPr>
            <a:r>
              <a:t>WORK TRACKING | EI SERVICES GLOBAL L2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EMH Jira Work Items - Status Distribution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92608"/>
            <a:ext cx="246888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Active Tickets | Past 7d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Schneider Electric Confidential | EMH Operations Executive Intelligence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37744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TOTAL OPEN TICKETS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280160"/>
            <a:ext cx="237744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DCD58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IN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280160"/>
            <a:ext cx="237744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AB308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READY FOR UAT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280160"/>
            <a:ext cx="30175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ACTIVE WORKFLOW STAGES</a:t>
            </a:r>
          </a:p>
          <a:p>
            <a:pPr algn="ctr">
              <a:defRPr sz="850">
                <a:solidFill>
                  <a:srgbClr val="FFFFFF"/>
                </a:solidFill>
                <a:latin typeface="Segoe UI"/>
              </a:defRPr>
            </a:pPr>
            <a:r>
              <a:t>Excludes Done/Closed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31520" y="2560320"/>
          <a:ext cx="621792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223760" y="2560320"/>
          <a:ext cx="46634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05840"/>
                <a:gridCol w="1097280"/>
              </a:tblGrid>
              <a:tr h="937259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Status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3725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3725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Ready for UAT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3726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DCD58"/>
                </a:solidFill>
                <a:latin typeface="Segoe UI"/>
              </a:defRPr>
            </a:pPr>
            <a:r>
              <a:t>OPERATIONAL SUPPORT | EI SERVICES GLOBAL L2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ServiceNow Incidents &amp; Service Tasks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92608"/>
            <a:ext cx="246888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EI Services Global L2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Schneider Electric Confidential | EMH Operations Executive Intelligence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6459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F4444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P1 CRITICAL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234440"/>
            <a:ext cx="16459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97316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P2 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16459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F4444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SLA BREACHED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16459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AB308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AGING &gt;5D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16459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ACTIVE INCIDENTS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234440"/>
            <a:ext cx="1554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DCD58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SERVICE REQUESTS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246888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1097280"/>
                <a:gridCol w="1463040"/>
                <a:gridCol w="822960"/>
                <a:gridCol w="73152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Ticket #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Assignee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Aging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Historical Remark / Assignment Context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INC0985230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P1 - Critical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EI Services Global L2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EMH Gateway intermittent 504 Gateway Timeout during peak traffic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INC0983110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P2 - 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Kamlesh Choubey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Memory threshold alert on emh-parent microservice pods in prod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INC0982341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P2 - High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EI Services Global L2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BREACHED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&gt;5d AGING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[Received as SLA Breached &amp; Aging (&gt;5d) from previous triage group before assignment to EI Services Global L2]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INC0984901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P3 - Moderate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Unassigned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BREACHED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&gt;5d AGING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[Received as SLA Breached &amp; Aging (&gt;5d) from previous triage group before assignment to EI Services Global L2]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INC0984520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P3 - Moderate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Unassigned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High CVE vulnerability reported in jackson-databind for date-proc...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INC0981204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On Hold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Suresh Kumar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BREACHED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&gt;5d AGING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[Received as SLA Breached &amp; Aging (&gt;5d) from previous triage group before assignment to EI Services Global L2]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DCD58"/>
                </a:solidFill>
                <a:latin typeface="Segoe UI"/>
              </a:defRPr>
            </a:pPr>
            <a:r>
              <a:t>COMMUNICATIONS INTEL | EI SERVICES GLOBAL L2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Outlook Email Intelligence &amp; Team Escalations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92608"/>
            <a:ext cx="246888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Dynamic Scan: Last 7d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Schneider Electric Confidential | EMH Operations Executive Intelligence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37744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EMAILS ANALYZED</a:t>
            </a:r>
          </a:p>
          <a:p>
            <a:pPr algn="ctr">
              <a:defRPr sz="850">
                <a:solidFill>
                  <a:srgbClr val="38BDF8"/>
                </a:solidFill>
                <a:latin typeface="Segoe UI"/>
              </a:defRPr>
            </a:pPr>
            <a:r>
              <a:t>Timeframe: 7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280160"/>
            <a:ext cx="237744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F4444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MAJOR ISSUES FLAGGED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280160"/>
            <a:ext cx="237744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AB308"/>
                </a:solidFill>
                <a:latin typeface="Segoe UI"/>
              </a:defRPr>
            </a:pPr>
            <a:r>
              <a:t>4 Teams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TEAMS REPORTING</a:t>
            </a:r>
          </a:p>
          <a:p>
            <a:pPr algn="ctr">
              <a:defRPr sz="850">
                <a:solidFill>
                  <a:srgbClr val="EAB308"/>
                </a:solidFill>
                <a:latin typeface="Segoe UI"/>
              </a:defRPr>
            </a:pPr>
            <a:r>
              <a:t>Infra, Kafka, Cyber,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280160"/>
            <a:ext cx="30175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DCD58"/>
                </a:solidFill>
                <a:latin typeface="Segoe UI"/>
              </a:defRPr>
            </a:pPr>
            <a:r>
              <a:t>Completed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SCAN STATUS</a:t>
            </a:r>
          </a:p>
          <a:p>
            <a:pPr algn="ctr">
              <a:defRPr sz="850">
                <a:solidFill>
                  <a:srgbClr val="3DCD58"/>
                </a:solidFill>
                <a:latin typeface="Segoe UI"/>
              </a:defRPr>
            </a:pPr>
            <a:r>
              <a:t>Dynamic Date Matching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56032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914400"/>
                <a:gridCol w="3291840"/>
                <a:gridCol w="3200400"/>
              </a:tblGrid>
              <a:tr h="937259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Date / 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Reporting Team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Issue Summary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Mitigation &amp; Action Taken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3725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2026-10-20 13:54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Global Infrastructure Operations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High latency spikes observed on REST gateway downstream API calls during peak hours (10:00-14:00 CET).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Auto-scaling minimum pod replicas increased from 4 to 8. Network throttling rule updated.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3725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2026-10-17 15:54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Kafka Cluster Operations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Oracle AQ database connection reset by peer during message dequeuing on UAT environment.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Task 2 restart triggered via REST endpoint. DB connection pool max lifetime adjusted to 30 minutes.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3726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2026-10-21 09:54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Enterprise Cybersecurity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JFrog Xray automated policy scan identified CVE-2023-35116 in jackson-databind 2.14.2.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Remediation plan initiated: upgrading spring-boot-parent and overriding jackson safe version 2.17.2.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3DC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DCD58"/>
                </a:solidFill>
                <a:latin typeface="Segoe UI"/>
              </a:defRPr>
            </a:pPr>
            <a:r>
              <a:t>CYBERSECURITY &amp; GOVERNANCE | EI SERVICES GLOBAL L2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Security &amp; Vulnerability Posture (JFrog Xray)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92608"/>
            <a:ext cx="246888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Release Image Scans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Schneider Electric Confidential | EMH Operations Executive Intelligence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0116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94A3B8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CRITICAL CVES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280160"/>
            <a:ext cx="20116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94A3B8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HIGH CVES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280160"/>
            <a:ext cx="20116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94A3B8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MEDIUM CVES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280160"/>
            <a:ext cx="20116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LOW CVES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280160"/>
            <a:ext cx="192024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TOTAL FINDINGS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256032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005840"/>
                <a:gridCol w="1005840"/>
                <a:gridCol w="1005840"/>
                <a:gridCol w="1005840"/>
                <a:gridCol w="2286000"/>
              </a:tblGrid>
              <a:tr h="624839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Project / Repository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Latest Release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Remediation Strategy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emh-parent / springboot-parent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3.4.4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Upgrade parent starters to safe 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mdm-integration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1.89.0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Jackson safe version 2.17.2 override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date-integration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2.12.0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Netty &amp; Tomcat library cohesion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titan-integration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1.45.0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Transitive dependencies via parent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crm-integration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1.30.0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Patch release verification passed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